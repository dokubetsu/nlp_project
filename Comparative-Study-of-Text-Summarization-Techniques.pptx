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embeddedFontLst>
    <p:embeddedFont>
      <p:font typeface="Lato" panose="020F0502020204030203" pitchFamily="3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876" autoAdjust="0"/>
    <p:restoredTop sz="94610"/>
  </p:normalViewPr>
  <p:slideViewPr>
    <p:cSldViewPr snapToGrid="0" snapToObjects="1">
      <p:cViewPr>
        <p:scale>
          <a:sx n="58" d="100"/>
          <a:sy n="58" d="100"/>
        </p:scale>
        <p:origin x="47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24501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3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3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330762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Comparative Study of Text Summarization Techniques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088481"/>
            <a:ext cx="755642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This presentation explores and compares two fundamentally different approaches to automatic text summarization: extractive and abstractive techniques. Extractive summarization works like highlighting key sentences from the original text, while abstractive summarization generates new sentences that capture core meaning in a condensed form.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5158145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We'll examine the strengths, weaknesses, and trade-offs between these methods in terms of summary quality, relevance, fluency, and computational cost through implementation, evaluation, and a live demonstration.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793790" y="6518910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6113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Project Overview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765227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5DFD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860" y="2807732"/>
            <a:ext cx="340162" cy="42529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30906" y="276522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Project Goal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530906" y="3255645"/>
            <a:ext cx="2927747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Explore, implement, and critically compare extractive and abstractive approaches to automatic text summarization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4685467" y="2765227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5DFD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0537" y="2807732"/>
            <a:ext cx="340162" cy="42529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422583" y="276522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Comparison Focus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5422583" y="3255645"/>
            <a:ext cx="292774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Evaluate summary quality, relevance, fluency, and computational cost between different methods</a:t>
            </a:r>
            <a:endParaRPr lang="en-US" sz="1750" dirty="0"/>
          </a:p>
        </p:txBody>
      </p:sp>
      <p:sp>
        <p:nvSpPr>
          <p:cNvPr id="12" name="Shape 7"/>
          <p:cNvSpPr/>
          <p:nvPr/>
        </p:nvSpPr>
        <p:spPr>
          <a:xfrm>
            <a:off x="793790" y="555212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5DFD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8860" y="5594628"/>
            <a:ext cx="340162" cy="42529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30906" y="55521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Demonstration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1530906" y="6042541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Showcase implementation through a live Streamlit application that allows direct comparison of different summarization techniques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8669" y="611862"/>
            <a:ext cx="8588573" cy="660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Extractive Summarization: TextRank</a:t>
            </a:r>
            <a:endParaRPr lang="en-US" sz="4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8347" y="1694974"/>
            <a:ext cx="2157055" cy="1217771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8225" y="2269093"/>
            <a:ext cx="297180" cy="37147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336738" y="1906310"/>
            <a:ext cx="2725103" cy="33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Graph-based algorithm</a:t>
            </a:r>
            <a:endParaRPr lang="en-US" sz="2050" dirty="0"/>
          </a:p>
        </p:txBody>
      </p:sp>
      <p:sp>
        <p:nvSpPr>
          <p:cNvPr id="6" name="Text 2"/>
          <p:cNvSpPr/>
          <p:nvPr/>
        </p:nvSpPr>
        <p:spPr>
          <a:xfrm>
            <a:off x="5336738" y="2363272"/>
            <a:ext cx="2818090" cy="338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Inspired by Google's PageRank</a:t>
            </a:r>
            <a:endParaRPr lang="en-US" sz="1650" dirty="0"/>
          </a:p>
        </p:txBody>
      </p:sp>
      <p:sp>
        <p:nvSpPr>
          <p:cNvPr id="7" name="Shape 3"/>
          <p:cNvSpPr/>
          <p:nvPr/>
        </p:nvSpPr>
        <p:spPr>
          <a:xfrm>
            <a:off x="5178147" y="2929533"/>
            <a:ext cx="8620839" cy="11430"/>
          </a:xfrm>
          <a:prstGeom prst="roundRect">
            <a:avLst>
              <a:gd name="adj" fmla="val 277397"/>
            </a:avLst>
          </a:prstGeom>
          <a:solidFill>
            <a:srgbClr val="CBC5B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9879" y="2965490"/>
            <a:ext cx="4314111" cy="1217771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98225" y="3388638"/>
            <a:ext cx="297180" cy="37147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415326" y="3176826"/>
            <a:ext cx="2642116" cy="33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Sentence similarity</a:t>
            </a:r>
            <a:endParaRPr lang="en-US" sz="2050" dirty="0"/>
          </a:p>
        </p:txBody>
      </p:sp>
      <p:sp>
        <p:nvSpPr>
          <p:cNvPr id="11" name="Text 5"/>
          <p:cNvSpPr/>
          <p:nvPr/>
        </p:nvSpPr>
        <p:spPr>
          <a:xfrm>
            <a:off x="6415326" y="3633788"/>
            <a:ext cx="4519255" cy="338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Builds connections between important sentences</a:t>
            </a:r>
            <a:endParaRPr lang="en-US" sz="1650" dirty="0"/>
          </a:p>
        </p:txBody>
      </p:sp>
      <p:sp>
        <p:nvSpPr>
          <p:cNvPr id="12" name="Shape 6"/>
          <p:cNvSpPr/>
          <p:nvPr/>
        </p:nvSpPr>
        <p:spPr>
          <a:xfrm>
            <a:off x="6256734" y="4200049"/>
            <a:ext cx="7542252" cy="11430"/>
          </a:xfrm>
          <a:prstGeom prst="roundRect">
            <a:avLst>
              <a:gd name="adj" fmla="val 277397"/>
            </a:avLst>
          </a:prstGeom>
          <a:solidFill>
            <a:srgbClr val="CBC5B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1292" y="4236006"/>
            <a:ext cx="6471166" cy="1217771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98225" y="4659154"/>
            <a:ext cx="297180" cy="371475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7493794" y="4447342"/>
            <a:ext cx="2642116" cy="33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Ranking process</a:t>
            </a:r>
            <a:endParaRPr lang="en-US" sz="2050" dirty="0"/>
          </a:p>
        </p:txBody>
      </p:sp>
      <p:sp>
        <p:nvSpPr>
          <p:cNvPr id="16" name="Text 8"/>
          <p:cNvSpPr/>
          <p:nvPr/>
        </p:nvSpPr>
        <p:spPr>
          <a:xfrm>
            <a:off x="7493794" y="4904303"/>
            <a:ext cx="3902035" cy="338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Selects top-ranked sentences for summary</a:t>
            </a:r>
            <a:endParaRPr lang="en-US" sz="1650" dirty="0"/>
          </a:p>
        </p:txBody>
      </p:sp>
      <p:sp>
        <p:nvSpPr>
          <p:cNvPr id="17" name="Text 9"/>
          <p:cNvSpPr/>
          <p:nvPr/>
        </p:nvSpPr>
        <p:spPr>
          <a:xfrm>
            <a:off x="778669" y="5691545"/>
            <a:ext cx="13073063" cy="1014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TextRank breaks text into sentences, calculates similarity between pairs, and builds a graph where sentences are nodes and edge weights represent similarity scores. The PageRank algorithm runs on this graph, with higher-ranked sentences selected for the summary in their original order.</a:t>
            </a:r>
            <a:endParaRPr lang="en-US" sz="1650" dirty="0"/>
          </a:p>
        </p:txBody>
      </p:sp>
      <p:sp>
        <p:nvSpPr>
          <p:cNvPr id="18" name="Text 10"/>
          <p:cNvSpPr/>
          <p:nvPr/>
        </p:nvSpPr>
        <p:spPr>
          <a:xfrm>
            <a:off x="778669" y="6943725"/>
            <a:ext cx="13073063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Pros: Conceptually simple, computationally fast, requires no training data, and produces factually accurate summaries. Cons: Summaries may lack coherence and can't paraphrase or synthesize information.</a:t>
            </a:r>
            <a:endParaRPr lang="en-US" sz="16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A8160DD-C532-2364-6966-0BA349BB285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610382" y="7642034"/>
            <a:ext cx="1970801" cy="50626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679972"/>
            <a:ext cx="7439501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Abstractive Summarization: T5 &amp; BART</a:t>
            </a:r>
            <a:endParaRPr lang="en-US" sz="33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2466737"/>
            <a:ext cx="850583" cy="102072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899523" y="2636758"/>
            <a:ext cx="243887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Transformer Architecture</a:t>
            </a:r>
            <a:endParaRPr lang="en-US" sz="1650" dirty="0"/>
          </a:p>
        </p:txBody>
      </p:sp>
      <p:sp>
        <p:nvSpPr>
          <p:cNvPr id="6" name="Text 2"/>
          <p:cNvSpPr/>
          <p:nvPr/>
        </p:nvSpPr>
        <p:spPr>
          <a:xfrm>
            <a:off x="1899523" y="3004542"/>
            <a:ext cx="6450687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Based on powerful sequence-to-sequence models with self-attention mechanisms</a:t>
            </a:r>
            <a:endParaRPr lang="en-US" sz="13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3487460"/>
            <a:ext cx="850583" cy="102072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899523" y="3657481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Pre-training</a:t>
            </a:r>
            <a:endParaRPr lang="en-US" sz="1650" dirty="0"/>
          </a:p>
        </p:txBody>
      </p:sp>
      <p:sp>
        <p:nvSpPr>
          <p:cNvPr id="9" name="Text 4"/>
          <p:cNvSpPr/>
          <p:nvPr/>
        </p:nvSpPr>
        <p:spPr>
          <a:xfrm>
            <a:off x="1899523" y="4025265"/>
            <a:ext cx="6450687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Models trained on massive text datasets to understand language structure</a:t>
            </a:r>
            <a:endParaRPr lang="en-US" sz="13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90" y="4508183"/>
            <a:ext cx="850583" cy="102072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899523" y="4678204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Fine-tuning</a:t>
            </a:r>
            <a:endParaRPr lang="en-US" sz="1650" dirty="0"/>
          </a:p>
        </p:txBody>
      </p:sp>
      <p:sp>
        <p:nvSpPr>
          <p:cNvPr id="12" name="Text 6"/>
          <p:cNvSpPr/>
          <p:nvPr/>
        </p:nvSpPr>
        <p:spPr>
          <a:xfrm>
            <a:off x="1899523" y="5045988"/>
            <a:ext cx="6450687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Pre-trained models further trained on CNN/Daily Mail dataset for summarization</a:t>
            </a:r>
            <a:endParaRPr lang="en-US" sz="13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790" y="5528905"/>
            <a:ext cx="850583" cy="1020723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899523" y="5698927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Generation</a:t>
            </a:r>
            <a:endParaRPr lang="en-US" sz="1650" dirty="0"/>
          </a:p>
        </p:txBody>
      </p:sp>
      <p:sp>
        <p:nvSpPr>
          <p:cNvPr id="15" name="Text 8"/>
          <p:cNvSpPr/>
          <p:nvPr/>
        </p:nvSpPr>
        <p:spPr>
          <a:xfrm>
            <a:off x="1899523" y="6066711"/>
            <a:ext cx="6450687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Models produce fluent summaries with paraphrased content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719971"/>
            <a:ext cx="5387102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Models Implemented</a:t>
            </a:r>
            <a:endParaRPr lang="en-US" sz="4200" dirty="0"/>
          </a:p>
        </p:txBody>
      </p:sp>
      <p:sp>
        <p:nvSpPr>
          <p:cNvPr id="4" name="Shape 1"/>
          <p:cNvSpPr/>
          <p:nvPr/>
        </p:nvSpPr>
        <p:spPr>
          <a:xfrm>
            <a:off x="6280190" y="1716524"/>
            <a:ext cx="3670578" cy="3646765"/>
          </a:xfrm>
          <a:prstGeom prst="roundRect">
            <a:avLst>
              <a:gd name="adj" fmla="val 886"/>
            </a:avLst>
          </a:prstGeom>
          <a:solidFill>
            <a:srgbClr val="E5DF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6495574" y="1931908"/>
            <a:ext cx="3239810" cy="673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T5 (Text-To-Text Transfer Transformer)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6495574" y="2734270"/>
            <a:ext cx="3239810" cy="2068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Experimented with t5-small, t5-base, and t5-large to evaluate impact of model size. Fine-tuned on CNN/DM dataset using Hugging Face Trainer library with GPU/TPU resources on Kaggle.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10166152" y="1716524"/>
            <a:ext cx="3670578" cy="3646765"/>
          </a:xfrm>
          <a:prstGeom prst="roundRect">
            <a:avLst>
              <a:gd name="adj" fmla="val 886"/>
            </a:avLst>
          </a:prstGeom>
          <a:solidFill>
            <a:srgbClr val="E5DF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10381536" y="1931908"/>
            <a:ext cx="3239810" cy="673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BART (Bidirectional Auto-Regressive Transformer)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0381536" y="2734270"/>
            <a:ext cx="3239810" cy="2413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Used facebook/bart-large-cnn, a large BART model already expertly fine-tuned on CNN/Daily Mail dataset. Implemented via Hugging Face pipeline as a benchmark representing near state-of-the-art performance.</a:t>
            </a:r>
            <a:endParaRPr lang="en-US" sz="16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78F8B6-6440-7608-14DE-C757C38B1D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10382" y="7620000"/>
            <a:ext cx="1970801" cy="50626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9317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Evaluation Strategy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689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Quantitative Metrics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45007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ROUGE Scores (ROUGE-1, ROUGE-2, ROUGE-L)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89227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Generation Time (computational cost)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459248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Used evaluate library wrapping rouge-score to measure overlap between generated summaries and human-written reference summaries. Higher scores indicate greater overlap.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2868930"/>
            <a:ext cx="299561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Qualitative Assessment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99521" y="345007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Relevance: Capture of main points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389283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Fluency &amp; Coherence: Readability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425517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Factuality: Information accuracy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461732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Conciseness: Appropriate brevity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610538" y="5343644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Manually reviewed summaries from each model for approximately 20 articles, comparing against original articles and reference summaries.</a:t>
            </a:r>
            <a:endParaRPr lang="en-US" sz="17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4E34F3C-65F9-B052-6B81-B98C57C46D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0382" y="7620000"/>
            <a:ext cx="1970801" cy="50626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25924"/>
            <a:ext cx="5207437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9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Results &amp; Comparative Analysis</a:t>
            </a:r>
            <a:endParaRPr lang="en-US" sz="2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481495"/>
            <a:ext cx="8477726" cy="430518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662952" y="5786676"/>
            <a:ext cx="147399" cy="147399"/>
          </a:xfrm>
          <a:prstGeom prst="roundRect">
            <a:avLst>
              <a:gd name="adj" fmla="val 12407"/>
            </a:avLst>
          </a:prstGeom>
          <a:solidFill>
            <a:srgbClr val="2828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2871311" y="5786676"/>
            <a:ext cx="646748" cy="147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1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ROUGE-1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4604980" y="5786676"/>
            <a:ext cx="147399" cy="147399"/>
          </a:xfrm>
          <a:prstGeom prst="roundRect">
            <a:avLst>
              <a:gd name="adj" fmla="val 12407"/>
            </a:avLst>
          </a:prstGeom>
          <a:solidFill>
            <a:srgbClr val="4848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4813340" y="5786676"/>
            <a:ext cx="646748" cy="147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1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ROUGE-2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547128" y="5786676"/>
            <a:ext cx="147399" cy="147399"/>
          </a:xfrm>
          <a:prstGeom prst="roundRect">
            <a:avLst>
              <a:gd name="adj" fmla="val 12407"/>
            </a:avLst>
          </a:prstGeom>
          <a:solidFill>
            <a:srgbClr val="67675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6755487" y="5786676"/>
            <a:ext cx="637103" cy="147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1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ROUGE-L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93790" y="6394847"/>
            <a:ext cx="13042821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Abstractive models significantly outperformed TextRank on all ROUGE metrics. BART-large-cnn and well-trained T5-base achieved highest scores. T5-large trained on limited data (1000 samples) performed worse than T5-base despite being larger, highlighting data limitations.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93790" y="7032188"/>
            <a:ext cx="13042821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Speed comparison showed TextRank was orders of magnitude faster (~0.03s/article) than abstractive models. T5-small was ~30x slower, T5-base ~60x slower, and T5-large ~80x slower, demonstrating a stark speed-quality trade-off.</a:t>
            </a:r>
            <a:endParaRPr lang="en-US" sz="11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AF36C47-95BA-67FF-E94B-F2D6ACD423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10382" y="7620000"/>
            <a:ext cx="1970801" cy="50626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84503"/>
            <a:ext cx="704076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Streamlit Demo Application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946910"/>
            <a:ext cx="4120753" cy="25467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47771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User Interface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5267563"/>
            <a:ext cx="4120753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application features an input area for text, model selection options, and parameter controls. Users can paste articles or use pre-loaded examples to generate summaries with different models.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4704" y="1946910"/>
            <a:ext cx="4120872" cy="254686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54704" y="47772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Comparison View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54704" y="5267682"/>
            <a:ext cx="4120872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Generated summaries appear in the output area with generation time displayed. This allows direct comparison between different summarization approaches and their associated trade-offs.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738" y="1946910"/>
            <a:ext cx="4120753" cy="254674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15738" y="47771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Live Demonstration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715738" y="5267563"/>
            <a:ext cx="4120753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demo showcases the differences in speed, fluency, and content between TextRank and transformer-based models, providing a practical illustration of the theoretical concepts.</a:t>
            </a:r>
            <a:endParaRPr lang="en-US" sz="17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50DEE9E-33D5-AD02-8188-DADF8EF8C5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10382" y="7620000"/>
            <a:ext cx="1970801" cy="50626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16399"/>
            <a:ext cx="5905143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Conclusions &amp; Future Work</a:t>
            </a:r>
            <a:endParaRPr lang="en-US" sz="3750" dirty="0"/>
          </a:p>
        </p:txBody>
      </p:sp>
      <p:sp>
        <p:nvSpPr>
          <p:cNvPr id="3" name="Shape 1"/>
          <p:cNvSpPr/>
          <p:nvPr/>
        </p:nvSpPr>
        <p:spPr>
          <a:xfrm>
            <a:off x="793790" y="1704380"/>
            <a:ext cx="2173724" cy="1110734"/>
          </a:xfrm>
          <a:prstGeom prst="roundRect">
            <a:avLst>
              <a:gd name="adj" fmla="val 2604"/>
            </a:avLst>
          </a:prstGeom>
          <a:solidFill>
            <a:srgbClr val="E5DFD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5099" y="2090261"/>
            <a:ext cx="271105" cy="3388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160276" y="1897142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Key Findings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3160276" y="2313980"/>
            <a:ext cx="8283178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Well-trained abstractive models provide higher quality summaries but at higher computational cost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063835" y="2805589"/>
            <a:ext cx="10676453" cy="11430"/>
          </a:xfrm>
          <a:prstGeom prst="roundRect">
            <a:avLst>
              <a:gd name="adj" fmla="val 253023"/>
            </a:avLst>
          </a:prstGeom>
          <a:solidFill>
            <a:srgbClr val="CBC5B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793790" y="2911435"/>
            <a:ext cx="4347567" cy="1110734"/>
          </a:xfrm>
          <a:prstGeom prst="roundRect">
            <a:avLst>
              <a:gd name="adj" fmla="val 2604"/>
            </a:avLst>
          </a:prstGeom>
          <a:solidFill>
            <a:srgbClr val="E5DFD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2021" y="3297317"/>
            <a:ext cx="271105" cy="33885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34119" y="3104198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Critical Insights</a:t>
            </a:r>
            <a:endParaRPr lang="en-US" sz="1850" dirty="0"/>
          </a:p>
        </p:txBody>
      </p:sp>
      <p:sp>
        <p:nvSpPr>
          <p:cNvPr id="11" name="Text 7"/>
          <p:cNvSpPr/>
          <p:nvPr/>
        </p:nvSpPr>
        <p:spPr>
          <a:xfrm>
            <a:off x="5334119" y="3521035"/>
            <a:ext cx="5817632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Sufficient training data is essential for abstractive model performance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5237678" y="4012644"/>
            <a:ext cx="8502610" cy="11430"/>
          </a:xfrm>
          <a:prstGeom prst="roundRect">
            <a:avLst>
              <a:gd name="adj" fmla="val 253023"/>
            </a:avLst>
          </a:prstGeom>
          <a:solidFill>
            <a:srgbClr val="CBC5B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9"/>
          <p:cNvSpPr/>
          <p:nvPr/>
        </p:nvSpPr>
        <p:spPr>
          <a:xfrm>
            <a:off x="793790" y="4118491"/>
            <a:ext cx="6521410" cy="1419106"/>
          </a:xfrm>
          <a:prstGeom prst="roundRect">
            <a:avLst>
              <a:gd name="adj" fmla="val 2038"/>
            </a:avLst>
          </a:prstGeom>
          <a:solidFill>
            <a:srgbClr val="E5DFD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8942" y="4658558"/>
            <a:ext cx="271105" cy="33885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507962" y="4311253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Future Directions</a:t>
            </a:r>
            <a:endParaRPr lang="en-US" sz="1850" dirty="0"/>
          </a:p>
        </p:txBody>
      </p:sp>
      <p:sp>
        <p:nvSpPr>
          <p:cNvPr id="16" name="Text 11"/>
          <p:cNvSpPr/>
          <p:nvPr/>
        </p:nvSpPr>
        <p:spPr>
          <a:xfrm>
            <a:off x="7507962" y="4728091"/>
            <a:ext cx="6135886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Fine-tune larger models, explore advanced extractive techniques, evaluate with additional metrics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793790" y="5754410"/>
            <a:ext cx="13042821" cy="925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This project successfully compared extractive and abstractive summarization approaches. While TextRank offers speed and simplicity, well-trained abstractive models like T5-base and BART-large-cnn provide significantly higher quality summaries in terms of fluency, coherence, and relevance, albeit at higher computational cost.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793790" y="6896338"/>
            <a:ext cx="13042821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Future work could include fine-tuning larger models with full datasets, exploring advanced extractive techniques using sentence embeddings, and evaluating with metrics that assess factuality or semantic similarity more directly.</a:t>
            </a:r>
            <a:endParaRPr lang="en-US" sz="15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C047B13-DE8A-1CB9-F378-35DB401C4C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10382" y="7620000"/>
            <a:ext cx="1970801" cy="5062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759</Words>
  <Application>Microsoft Office PowerPoint</Application>
  <PresentationFormat>Custom</PresentationFormat>
  <Paragraphs>75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Lato Bold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Rishik Reddy Bandi</cp:lastModifiedBy>
  <cp:revision>3</cp:revision>
  <dcterms:created xsi:type="dcterms:W3CDTF">2025-04-12T08:51:07Z</dcterms:created>
  <dcterms:modified xsi:type="dcterms:W3CDTF">2025-04-12T09:33:03Z</dcterms:modified>
</cp:coreProperties>
</file>